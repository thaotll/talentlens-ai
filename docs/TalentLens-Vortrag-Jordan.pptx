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Stellt euch die HR-Abteilung bei einer beliebten Stelle vor: 200 Bewerbungen, alle als PDF, alle unterschiedlich aufgebaut. Jemand muss die alle lesen, vergleichen und vorsortieren. Das kostet Tage, und es ist notorisch unzuverlässig: Die 180ste Bewerbung wird anders bewertet als die dritte, weil der Mensch müde ist. Und es fließen Dinge ein, die nichts mit Eignung zu tun haben - Name, Alter, Herkunft. Genau da setzt TalentLens an: die stumpfe Vorsortierung abnehmen und nachvollziehbar machen.</a:t>
            </a:r>
          </a:p>
          <a:p/>
          <a:p>
            <a:r>
              <a:t>Kernbotschaft (einmal setzen): Wir haben kein KI-Orakel gebaut, das ueber Menschen urteilt, sondern ein transparentes Werkzeug, das vorsortiert und jede Bewertung begründet. Entscheiden tut am Ende ein Mensch.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Grundidee ist bewusst einfach erklärbar: Man wirft die Bewerbungs-PDFs rein - auch gemischt, mehrere Kandidaten auf einmal - und das System sortiert sie selbst den richtigen Bewerbern zu. Dann bewertet ein Sprachmodell jede Bewerbung gegen die Stellenausschreibung und legt die Kandidaten in eine Rangliste: oben, wer am besten passt, unten, wer am wenigsten passt. Wichtig ist der dritte Kasten: Es kommt nicht nur eine Zahl raus, sondern eine Begründung pro Kriterium, mit wörtlichen Zitaten aus dem Lebenslauf, plus eine Auswertung, woran Bewerbungen typischerweise scheitern. Mein Kollege zeigt das gleich alles live - ich bleibe beim großen Bild.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der Teil, auf den wir stolz sind, weil es nicht die naheliegende Lösung war. Vier Entscheidungen:</a:t>
            </a:r>
          </a:p>
          <a:p/>
          <a:p>
            <a:r>
              <a:t>Erstens: Die eigentliche Bewertung läuft als feste, immer gleiche Kette ab - nicht als frei agierender Agent. Warum? Ein Screening muss reproduzierbar und auditierbar sein. Denselben Lebenslauf zweimal reinwerfen soll dasselbe Ergebnis geben. Den Agenten - die KI, die selbst entscheidet, was sie tut - haben wir bewusst dort eingebaut, wo er Mehrwert bringt: im Assistent-Tab, wo man frei Fragen zu den Ergebnissen stellen kann.</a:t>
            </a:r>
          </a:p>
          <a:p/>
          <a:p>
            <a:r>
              <a:t>Zweitens: Den Gesamt-Score berechnet nicht das Modell, sondern Python, als gewichtete Summe. Sprachmodelle geben schlechte Gesamtnoten, die clustern alle um 7 bis 8. Also schätzt das LLM nur die Einzelkriterien, und wir rechnen die Endnote transparent selbst: 35 Prozent Berufserfahrung, 35 Prozent Skills, 20 Prozent Ausbildung, 10 Prozent Sprache.</a:t>
            </a:r>
          </a:p>
          <a:p/>
          <a:p>
            <a:r>
              <a:t>Drittens: Vor der Bewertung entfernen wir Name, Alter, Geschlecht, Herkunft - unsere Antwort auf das Bias-Problem von Folie 1.</a:t>
            </a:r>
          </a:p>
          <a:p/>
          <a:p>
            <a:r>
              <a:t>Viertens: Formale Ausschlusskriterien, z.B. ein fehlendes Motivationsschreiben, greifen schon vor der KI-Bewertung - spart Kosten, klare Regel.</a:t>
            </a:r>
          </a:p>
          <a:p/>
          <a:p>
            <a:r>
              <a:t>Tipp: 'Score rechnet Python' und 'Anonymisierung' betonen, die anderen zwei schneller nehmen.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Wie würde man das real nutzen? Nicht als Auto-Piloten, der absagt, sondern als Trichter: Das Tool priorisiert, HR schaut sich die oberen Kandidaten genauer an, und die Einladung entscheidet ein Mensch - mit der Begründung als Gesprächsgrundlage. Verlauf und Statistik helfen, den Prozess ueber viele Bewerbungen hinweg im Blick zu behalten. Und es ist kein reines Labor-Projekt: Wir haben es deploybar gemacht. Aus einem Repository laufen zwei Dienste - unser Python-Backend und das Dashboard - auf Railway, mit Passwortschutz und persistentem Speicher. Das Team kann also über eine URL draufzugreifen und es gemeinsam ausprobieren.</a:t>
            </a:r>
          </a:p>
          <a:p/>
          <a:p>
            <a:r>
              <a:t>Wenn die Zeit knapp wird: Diese Folie zuerst kürzen (Deployment-Detail).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Projekt in diesem Bereich ohne Ethik-Teil wäre unseriös. Der EU AI Act stuft KI-gestütztes Bewerber-Screening ausdrücklich als Hochrisiko-System ein - ein echter Produktiveinsatz hätte strenge Auflagen bei Transparenz und menschlicher Aufsicht. Deshalb arbeiten wir ausschließlich mit fiktiven Testdaten, nie mit echten Bewerbungen. Uns ist bewusst: Die Anonymisierung fängt nicht jeden versteckten Bias ab, und die Scores bleiben Schätzungen - Unterschiede von ein paar Punkten sind nicht signifikant. Genau darum ist das Ganze ein Assistenzsystem und keine Entscheidungsmaschine. Der Mensch bleibt in der Verantwortung.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war der Rahmen: das Problem, unsere Grundidee und die Entscheidungen dahinter. Wie sich das für die HR-Nutzerin konkret anfühlt und was technisch im Hintergrund passiert, wenn eine Bewerbung durchläuft, zeigt euch jetzt [Name des Kollegen]. Übergabe.</a:t>
            </a:r>
          </a:p>
          <a:p/>
          <a:p>
            <a:r>
              <a:t>Optional den Kernsatz wiederholen: transparentes Werkzeug, Mensch entscheidet.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822960" y="777240"/>
            <a:ext cx="10515600" cy="1463040"/>
          </a:xfrm>
          <a:prstGeom prst="rect">
            <a:avLst/>
          </a:prstGeom>
          <a:noFill/>
        </p:spPr>
        <p:txBody>
          <a:bodyPr wrap="square" anchor="t" lIns="0" rIns="0" tIns="0" bIns="0">
            <a:spAutoFit/>
          </a:bodyPr>
          <a:lstStyle/>
          <a:p>
            <a:r>
              <a:rPr sz="6000" b="0" i="1">
                <a:solidFill>
                  <a:srgbClr val="2E6A57"/>
                </a:solidFill>
                <a:latin typeface="Georgia"/>
              </a:rPr>
              <a:t>TalentLens</a:t>
            </a:r>
          </a:p>
        </p:txBody>
      </p:sp>
      <p:sp>
        <p:nvSpPr>
          <p:cNvPr id="3" name="TextBox 2"/>
          <p:cNvSpPr txBox="1"/>
          <p:nvPr/>
        </p:nvSpPr>
        <p:spPr>
          <a:xfrm>
            <a:off x="868680" y="1874519"/>
            <a:ext cx="10515600" cy="457200"/>
          </a:xfrm>
          <a:prstGeom prst="rect">
            <a:avLst/>
          </a:prstGeom>
          <a:noFill/>
        </p:spPr>
        <p:txBody>
          <a:bodyPr wrap="square" anchor="t" lIns="0" rIns="0" tIns="0" bIns="0">
            <a:spAutoFit/>
          </a:bodyPr>
          <a:lstStyle/>
          <a:p>
            <a:r>
              <a:rPr sz="1800" b="0" i="0">
                <a:solidFill>
                  <a:srgbClr val="5E645E"/>
                </a:solidFill>
                <a:latin typeface="Calibri"/>
              </a:rPr>
              <a:t>Agentisches CV-Screening mit LangChain</a:t>
            </a:r>
          </a:p>
        </p:txBody>
      </p:sp>
      <p:sp>
        <p:nvSpPr>
          <p:cNvPr id="4" name="Rectangle 3"/>
          <p:cNvSpPr/>
          <p:nvPr/>
        </p:nvSpPr>
        <p:spPr>
          <a:xfrm>
            <a:off x="868680" y="2514600"/>
            <a:ext cx="2011680" cy="38100"/>
          </a:xfrm>
          <a:prstGeom prst="rect">
            <a:avLst/>
          </a:prstGeom>
          <a:solidFill>
            <a:srgbClr val="2E6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971800"/>
            <a:ext cx="10241280" cy="4023360"/>
          </a:xfrm>
          <a:prstGeom prst="rect">
            <a:avLst/>
          </a:prstGeom>
          <a:noFill/>
        </p:spPr>
        <p:txBody>
          <a:bodyPr wrap="square" anchor="t" lIns="0" rIns="0" tIns="0" bIns="0">
            <a:spAutoFit/>
          </a:bodyPr>
          <a:lstStyle/>
          <a:p>
            <a:pPr>
              <a:lnSpc>
                <a:spcPct val="112000"/>
              </a:lnSpc>
              <a:spcAft>
                <a:spcPts val="1400"/>
              </a:spcAft>
            </a:pPr>
            <a:r>
              <a:rPr sz="1900" b="1" i="0">
                <a:solidFill>
                  <a:srgbClr val="2E6A57"/>
                </a:solidFill>
                <a:latin typeface="Calibri"/>
              </a:rPr>
              <a:t>•  </a:t>
            </a:r>
            <a:r>
              <a:rPr sz="1900" b="0" i="0">
                <a:solidFill>
                  <a:srgbClr val="2B322E"/>
                </a:solidFill>
                <a:latin typeface="Calibri"/>
              </a:rPr>
              <a:t>200 Bewerbungen, alle als PDF, alle anders aufgebaut</a:t>
            </a:r>
          </a:p>
          <a:p>
            <a:pPr>
              <a:lnSpc>
                <a:spcPct val="112000"/>
              </a:lnSpc>
              <a:spcAft>
                <a:spcPts val="1400"/>
              </a:spcAft>
            </a:pPr>
            <a:r>
              <a:rPr sz="1900" b="1" i="0">
                <a:solidFill>
                  <a:srgbClr val="2E6A57"/>
                </a:solidFill>
                <a:latin typeface="Calibri"/>
              </a:rPr>
              <a:t>•  </a:t>
            </a:r>
            <a:r>
              <a:rPr sz="1900" b="0" i="0">
                <a:solidFill>
                  <a:srgbClr val="2B322E"/>
                </a:solidFill>
                <a:latin typeface="Calibri"/>
              </a:rPr>
              <a:t>Manuelle Vorsortierung: langsam und von Bewerbung zu Bewerbung uneinheitlich</a:t>
            </a:r>
          </a:p>
          <a:p>
            <a:pPr>
              <a:lnSpc>
                <a:spcPct val="112000"/>
              </a:lnSpc>
              <a:spcAft>
                <a:spcPts val="1400"/>
              </a:spcAft>
            </a:pPr>
            <a:r>
              <a:rPr sz="1900" b="1" i="0">
                <a:solidFill>
                  <a:srgbClr val="2E6A57"/>
                </a:solidFill>
                <a:latin typeface="Calibri"/>
              </a:rPr>
              <a:t>•  </a:t>
            </a:r>
            <a:r>
              <a:rPr sz="1900" b="0" i="0">
                <a:solidFill>
                  <a:srgbClr val="2B322E"/>
                </a:solidFill>
                <a:latin typeface="Calibri"/>
              </a:rPr>
              <a:t>Sachfremde Merkmale fließen mit ein - Name, Alter, Herkunft</a:t>
            </a:r>
          </a:p>
        </p:txBody>
      </p:sp>
      <p:sp>
        <p:nvSpPr>
          <p:cNvPr id="6" name="TextBox 5"/>
          <p:cNvSpPr txBox="1"/>
          <p:nvPr/>
        </p:nvSpPr>
        <p:spPr>
          <a:xfrm>
            <a:off x="822960" y="6400800"/>
            <a:ext cx="10515600" cy="320040"/>
          </a:xfrm>
          <a:prstGeom prst="rect">
            <a:avLst/>
          </a:prstGeom>
          <a:noFill/>
        </p:spPr>
        <p:txBody>
          <a:bodyPr wrap="square" anchor="t" lIns="0" rIns="0" tIns="0" bIns="0">
            <a:spAutoFit/>
          </a:bodyPr>
          <a:lstStyle/>
          <a:p>
            <a:r>
              <a:rPr sz="1000" b="0" i="0">
                <a:solidFill>
                  <a:srgbClr val="8C908A"/>
                </a:solidFill>
                <a:latin typeface="Calibri"/>
              </a:rPr>
              <a:t>TalentLens</a:t>
            </a:r>
            <a:r>
              <a:rPr sz="1000" b="0" i="0">
                <a:solidFill>
                  <a:srgbClr val="8C908A"/>
                </a:solidFill>
                <a:latin typeface="Calibri"/>
              </a:rPr>
              <a:t>     ·     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822960" y="566928"/>
            <a:ext cx="10515600" cy="365760"/>
          </a:xfrm>
          <a:prstGeom prst="rect">
            <a:avLst/>
          </a:prstGeom>
          <a:noFill/>
        </p:spPr>
        <p:txBody>
          <a:bodyPr wrap="square" anchor="t" lIns="0" rIns="0" tIns="0" bIns="0">
            <a:spAutoFit/>
          </a:bodyPr>
          <a:lstStyle/>
          <a:p>
            <a:pPr>
              <a:lnSpc>
                <a:spcPct val="100000"/>
              </a:lnSpc>
            </a:pPr>
            <a:r>
              <a:rPr sz="1250" b="1" i="0" spc="220">
                <a:solidFill>
                  <a:srgbClr val="2E6A57"/>
                </a:solidFill>
                <a:latin typeface="Calibri"/>
              </a:rPr>
              <a:t>DIE IDEE</a:t>
            </a:r>
          </a:p>
        </p:txBody>
      </p:sp>
      <p:sp>
        <p:nvSpPr>
          <p:cNvPr id="3" name="TextBox 2"/>
          <p:cNvSpPr txBox="1"/>
          <p:nvPr/>
        </p:nvSpPr>
        <p:spPr>
          <a:xfrm>
            <a:off x="822960" y="932688"/>
            <a:ext cx="10515600" cy="1097280"/>
          </a:xfrm>
          <a:prstGeom prst="rect">
            <a:avLst/>
          </a:prstGeom>
          <a:noFill/>
        </p:spPr>
        <p:txBody>
          <a:bodyPr wrap="square" anchor="t" lIns="0" rIns="0" tIns="0" bIns="0">
            <a:spAutoFit/>
          </a:bodyPr>
          <a:lstStyle/>
          <a:p>
            <a:pPr>
              <a:lnSpc>
                <a:spcPct val="102000"/>
              </a:lnSpc>
            </a:pPr>
            <a:r>
              <a:rPr sz="3200" b="0" i="1">
                <a:solidFill>
                  <a:srgbClr val="2B322E"/>
                </a:solidFill>
                <a:latin typeface="Georgia"/>
              </a:rPr>
              <a:t>Von PDFs zu einer begründeten Rangliste</a:t>
            </a:r>
          </a:p>
        </p:txBody>
      </p:sp>
      <p:sp>
        <p:nvSpPr>
          <p:cNvPr id="4" name="Rounded Rectangle 3"/>
          <p:cNvSpPr/>
          <p:nvPr/>
        </p:nvSpPr>
        <p:spPr>
          <a:xfrm>
            <a:off x="1066647" y="2148840"/>
            <a:ext cx="3017520" cy="1051560"/>
          </a:xfrm>
          <a:prstGeom prst="roundRect">
            <a:avLst/>
          </a:prstGeom>
          <a:solidFill>
            <a:srgbClr val="E7F1EC"/>
          </a:solidFill>
          <a:ln w="12700">
            <a:solidFill>
              <a:srgbClr val="2E6A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234F41"/>
                </a:solidFill>
                <a:latin typeface="Calibri"/>
              </a:rPr>
              <a:t>PDFs rein</a:t>
            </a:r>
          </a:p>
        </p:txBody>
      </p:sp>
      <p:sp>
        <p:nvSpPr>
          <p:cNvPr id="5" name="TextBox 4"/>
          <p:cNvSpPr txBox="1"/>
          <p:nvPr/>
        </p:nvSpPr>
        <p:spPr>
          <a:xfrm>
            <a:off x="4175607" y="2148840"/>
            <a:ext cx="320040" cy="1051560"/>
          </a:xfrm>
          <a:prstGeom prst="rect">
            <a:avLst/>
          </a:prstGeom>
          <a:noFill/>
        </p:spPr>
        <p:txBody>
          <a:bodyPr wrap="square" anchor="ctr" lIns="0" rIns="0" tIns="0" bIns="0">
            <a:spAutoFit/>
          </a:bodyPr>
          <a:lstStyle/>
          <a:p>
            <a:pPr algn="ctr"/>
            <a:r>
              <a:rPr sz="2200" b="1" i="0">
                <a:solidFill>
                  <a:srgbClr val="2E6A57"/>
                </a:solidFill>
                <a:latin typeface="Calibri"/>
              </a:rPr>
              <a:t>→</a:t>
            </a:r>
          </a:p>
        </p:txBody>
      </p:sp>
      <p:sp>
        <p:nvSpPr>
          <p:cNvPr id="6" name="Rounded Rectangle 5"/>
          <p:cNvSpPr/>
          <p:nvPr/>
        </p:nvSpPr>
        <p:spPr>
          <a:xfrm>
            <a:off x="4587087" y="2148840"/>
            <a:ext cx="3017520" cy="1051560"/>
          </a:xfrm>
          <a:prstGeom prst="roundRect">
            <a:avLst/>
          </a:prstGeom>
          <a:solidFill>
            <a:srgbClr val="E7F1EC"/>
          </a:solidFill>
          <a:ln w="12700">
            <a:solidFill>
              <a:srgbClr val="2E6A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234F41"/>
                </a:solidFill>
                <a:latin typeface="Calibri"/>
              </a:rPr>
              <a:t>Bewertung &amp; Ranking</a:t>
            </a:r>
          </a:p>
        </p:txBody>
      </p:sp>
      <p:sp>
        <p:nvSpPr>
          <p:cNvPr id="7" name="TextBox 6"/>
          <p:cNvSpPr txBox="1"/>
          <p:nvPr/>
        </p:nvSpPr>
        <p:spPr>
          <a:xfrm>
            <a:off x="7696047" y="2148840"/>
            <a:ext cx="320040" cy="1051560"/>
          </a:xfrm>
          <a:prstGeom prst="rect">
            <a:avLst/>
          </a:prstGeom>
          <a:noFill/>
        </p:spPr>
        <p:txBody>
          <a:bodyPr wrap="square" anchor="ctr" lIns="0" rIns="0" tIns="0" bIns="0">
            <a:spAutoFit/>
          </a:bodyPr>
          <a:lstStyle/>
          <a:p>
            <a:pPr algn="ctr"/>
            <a:r>
              <a:rPr sz="2200" b="1" i="0">
                <a:solidFill>
                  <a:srgbClr val="2E6A57"/>
                </a:solidFill>
                <a:latin typeface="Calibri"/>
              </a:rPr>
              <a:t>→</a:t>
            </a:r>
          </a:p>
        </p:txBody>
      </p:sp>
      <p:sp>
        <p:nvSpPr>
          <p:cNvPr id="8" name="Rounded Rectangle 7"/>
          <p:cNvSpPr/>
          <p:nvPr/>
        </p:nvSpPr>
        <p:spPr>
          <a:xfrm>
            <a:off x="8107527" y="2148840"/>
            <a:ext cx="3017520" cy="1051560"/>
          </a:xfrm>
          <a:prstGeom prst="roundRect">
            <a:avLst/>
          </a:prstGeom>
          <a:solidFill>
            <a:srgbClr val="E7F1EC"/>
          </a:solidFill>
          <a:ln w="12700">
            <a:solidFill>
              <a:srgbClr val="2E6A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234F41"/>
                </a:solidFill>
                <a:latin typeface="Calibri"/>
              </a:rPr>
              <a:t>Begründung + Analyse</a:t>
            </a:r>
          </a:p>
        </p:txBody>
      </p:sp>
      <p:sp>
        <p:nvSpPr>
          <p:cNvPr id="9" name="TextBox 8"/>
          <p:cNvSpPr txBox="1"/>
          <p:nvPr/>
        </p:nvSpPr>
        <p:spPr>
          <a:xfrm>
            <a:off x="822960" y="3657600"/>
            <a:ext cx="10241280" cy="4023360"/>
          </a:xfrm>
          <a:prstGeom prst="rect">
            <a:avLst/>
          </a:prstGeom>
          <a:noFill/>
        </p:spPr>
        <p:txBody>
          <a:bodyPr wrap="square" anchor="t" lIns="0" rIns="0" tIns="0" bIns="0">
            <a:spAutoFit/>
          </a:bodyPr>
          <a:lstStyle/>
          <a:p>
            <a:pPr>
              <a:lnSpc>
                <a:spcPct val="112000"/>
              </a:lnSpc>
              <a:spcAft>
                <a:spcPts val="1400"/>
              </a:spcAft>
            </a:pPr>
            <a:r>
              <a:rPr sz="1800" b="1" i="0">
                <a:solidFill>
                  <a:srgbClr val="2E6A57"/>
                </a:solidFill>
                <a:latin typeface="Calibri"/>
              </a:rPr>
              <a:t>•  </a:t>
            </a:r>
            <a:r>
              <a:rPr sz="1800" b="0" i="0">
                <a:solidFill>
                  <a:srgbClr val="2B322E"/>
                </a:solidFill>
                <a:latin typeface="Calibri"/>
              </a:rPr>
              <a:t>Auch gemischte Sammel-PDFs - mehrere Kandidaten auf einmal, automatisch zugeordnet</a:t>
            </a:r>
          </a:p>
          <a:p>
            <a:pPr>
              <a:lnSpc>
                <a:spcPct val="112000"/>
              </a:lnSpc>
              <a:spcAft>
                <a:spcPts val="1400"/>
              </a:spcAft>
            </a:pPr>
            <a:r>
              <a:rPr sz="1800" b="1" i="0">
                <a:solidFill>
                  <a:srgbClr val="2E6A57"/>
                </a:solidFill>
                <a:latin typeface="Calibri"/>
              </a:rPr>
              <a:t>•  </a:t>
            </a:r>
            <a:r>
              <a:rPr sz="1800" b="0" i="0">
                <a:solidFill>
                  <a:srgbClr val="2B322E"/>
                </a:solidFill>
                <a:latin typeface="Calibri"/>
              </a:rPr>
              <a:t>Rangliste: beste Passung oben, schwächste unten</a:t>
            </a:r>
          </a:p>
          <a:p>
            <a:pPr>
              <a:lnSpc>
                <a:spcPct val="112000"/>
              </a:lnSpc>
              <a:spcAft>
                <a:spcPts val="1400"/>
              </a:spcAft>
            </a:pPr>
            <a:r>
              <a:rPr sz="1800" b="1" i="0">
                <a:solidFill>
                  <a:srgbClr val="2E6A57"/>
                </a:solidFill>
                <a:latin typeface="Calibri"/>
              </a:rPr>
              <a:t>•  </a:t>
            </a:r>
            <a:r>
              <a:rPr sz="1800" b="0" i="0">
                <a:solidFill>
                  <a:srgbClr val="2B322E"/>
                </a:solidFill>
                <a:latin typeface="Calibri"/>
              </a:rPr>
              <a:t>Nicht nur eine Zahl - Begründung mit Zitaten aus dem Lebenslauf plus Auswertung</a:t>
            </a:r>
          </a:p>
        </p:txBody>
      </p:sp>
      <p:sp>
        <p:nvSpPr>
          <p:cNvPr id="10" name="TextBox 9"/>
          <p:cNvSpPr txBox="1"/>
          <p:nvPr/>
        </p:nvSpPr>
        <p:spPr>
          <a:xfrm>
            <a:off x="822960" y="6400800"/>
            <a:ext cx="10515600" cy="320040"/>
          </a:xfrm>
          <a:prstGeom prst="rect">
            <a:avLst/>
          </a:prstGeom>
          <a:noFill/>
        </p:spPr>
        <p:txBody>
          <a:bodyPr wrap="square" anchor="t" lIns="0" rIns="0" tIns="0" bIns="0">
            <a:spAutoFit/>
          </a:bodyPr>
          <a:lstStyle/>
          <a:p>
            <a:r>
              <a:rPr sz="1000" b="0" i="0">
                <a:solidFill>
                  <a:srgbClr val="8C908A"/>
                </a:solidFill>
                <a:latin typeface="Calibri"/>
              </a:rPr>
              <a:t>TalentLens</a:t>
            </a:r>
            <a:r>
              <a:rPr sz="1000" b="0" i="0">
                <a:solidFill>
                  <a:srgbClr val="8C908A"/>
                </a:solidFill>
                <a:latin typeface="Calibri"/>
              </a:rPr>
              <a:t>     ·     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822960" y="566928"/>
            <a:ext cx="10515600" cy="365760"/>
          </a:xfrm>
          <a:prstGeom prst="rect">
            <a:avLst/>
          </a:prstGeom>
          <a:noFill/>
        </p:spPr>
        <p:txBody>
          <a:bodyPr wrap="square" anchor="t" lIns="0" rIns="0" tIns="0" bIns="0">
            <a:spAutoFit/>
          </a:bodyPr>
          <a:lstStyle/>
          <a:p>
            <a:pPr>
              <a:lnSpc>
                <a:spcPct val="100000"/>
              </a:lnSpc>
            </a:pPr>
            <a:r>
              <a:rPr sz="1250" b="1" i="0" spc="220">
                <a:solidFill>
                  <a:srgbClr val="2E6A57"/>
                </a:solidFill>
                <a:latin typeface="Calibri"/>
              </a:rPr>
              <a:t>WAS WIR UNS DABEI GEDACHT HABEN</a:t>
            </a:r>
          </a:p>
        </p:txBody>
      </p:sp>
      <p:sp>
        <p:nvSpPr>
          <p:cNvPr id="3" name="TextBox 2"/>
          <p:cNvSpPr txBox="1"/>
          <p:nvPr/>
        </p:nvSpPr>
        <p:spPr>
          <a:xfrm>
            <a:off x="822960" y="932688"/>
            <a:ext cx="10515600" cy="1097280"/>
          </a:xfrm>
          <a:prstGeom prst="rect">
            <a:avLst/>
          </a:prstGeom>
          <a:noFill/>
        </p:spPr>
        <p:txBody>
          <a:bodyPr wrap="square" anchor="t" lIns="0" rIns="0" tIns="0" bIns="0">
            <a:spAutoFit/>
          </a:bodyPr>
          <a:lstStyle/>
          <a:p>
            <a:pPr>
              <a:lnSpc>
                <a:spcPct val="102000"/>
              </a:lnSpc>
            </a:pPr>
            <a:r>
              <a:rPr sz="3200" b="0" i="1">
                <a:solidFill>
                  <a:srgbClr val="2B322E"/>
                </a:solidFill>
                <a:latin typeface="Georgia"/>
              </a:rPr>
              <a:t>Vier Entscheidungen, die nicht die naheliegenden waren</a:t>
            </a:r>
          </a:p>
        </p:txBody>
      </p:sp>
      <p:sp>
        <p:nvSpPr>
          <p:cNvPr id="4" name="TextBox 3"/>
          <p:cNvSpPr txBox="1"/>
          <p:nvPr/>
        </p:nvSpPr>
        <p:spPr>
          <a:xfrm>
            <a:off x="822960" y="2148840"/>
            <a:ext cx="10241280" cy="4023360"/>
          </a:xfrm>
          <a:prstGeom prst="rect">
            <a:avLst/>
          </a:prstGeom>
          <a:noFill/>
        </p:spPr>
        <p:txBody>
          <a:bodyPr wrap="square" anchor="t" lIns="0" rIns="0" tIns="0" bIns="0">
            <a:spAutoFit/>
          </a:bodyPr>
          <a:lstStyle/>
          <a:p>
            <a:pPr>
              <a:lnSpc>
                <a:spcPct val="112000"/>
              </a:lnSpc>
              <a:spcAft>
                <a:spcPts val="1600"/>
              </a:spcAft>
            </a:pPr>
            <a:r>
              <a:rPr sz="1800" b="1" i="0">
                <a:solidFill>
                  <a:srgbClr val="2E6A57"/>
                </a:solidFill>
                <a:latin typeface="Calibri"/>
              </a:rPr>
              <a:t>•  </a:t>
            </a:r>
            <a:r>
              <a:rPr sz="1800" b="1" i="0">
                <a:solidFill>
                  <a:srgbClr val="2B322E"/>
                </a:solidFill>
                <a:latin typeface="Calibri"/>
              </a:rPr>
              <a:t>Deterministische Pipeline + agentischer Assistent</a:t>
            </a:r>
            <a:r>
              <a:rPr sz="1600" b="0" i="0">
                <a:solidFill>
                  <a:srgbClr val="5E645E"/>
                </a:solidFill>
                <a:latin typeface="Calibri"/>
              </a:rPr>
              <a:t>   - reproduzierbare Scores; der Agent nur dort, wo er Mehrwert bringt</a:t>
            </a:r>
          </a:p>
          <a:p>
            <a:pPr>
              <a:lnSpc>
                <a:spcPct val="112000"/>
              </a:lnSpc>
              <a:spcAft>
                <a:spcPts val="1600"/>
              </a:spcAft>
            </a:pPr>
            <a:r>
              <a:rPr sz="1800" b="1" i="0">
                <a:solidFill>
                  <a:srgbClr val="2E6A57"/>
                </a:solidFill>
                <a:latin typeface="Calibri"/>
              </a:rPr>
              <a:t>•  </a:t>
            </a:r>
            <a:r>
              <a:rPr sz="1800" b="1" i="0">
                <a:solidFill>
                  <a:srgbClr val="2B322E"/>
                </a:solidFill>
                <a:latin typeface="Calibri"/>
              </a:rPr>
              <a:t>Den Score rechnet Python, nicht das LLM</a:t>
            </a:r>
            <a:r>
              <a:rPr sz="1600" b="0" i="0">
                <a:solidFill>
                  <a:srgbClr val="5E645E"/>
                </a:solidFill>
                <a:latin typeface="Calibri"/>
              </a:rPr>
              <a:t>   - faire, sichtbare Gewichtung: 35 / 35 / 20 / 10</a:t>
            </a:r>
          </a:p>
          <a:p>
            <a:pPr>
              <a:lnSpc>
                <a:spcPct val="112000"/>
              </a:lnSpc>
              <a:spcAft>
                <a:spcPts val="1600"/>
              </a:spcAft>
            </a:pPr>
            <a:r>
              <a:rPr sz="1800" b="1" i="0">
                <a:solidFill>
                  <a:srgbClr val="2E6A57"/>
                </a:solidFill>
                <a:latin typeface="Calibri"/>
              </a:rPr>
              <a:t>•  </a:t>
            </a:r>
            <a:r>
              <a:rPr sz="1800" b="1" i="0">
                <a:solidFill>
                  <a:srgbClr val="2B322E"/>
                </a:solidFill>
                <a:latin typeface="Calibri"/>
              </a:rPr>
              <a:t>Anonymisierung vor der Bewertung</a:t>
            </a:r>
            <a:r>
              <a:rPr sz="1600" b="0" i="0">
                <a:solidFill>
                  <a:srgbClr val="5E645E"/>
                </a:solidFill>
                <a:latin typeface="Calibri"/>
              </a:rPr>
              <a:t>   - das bewertende Modell sieht keinen Namen, kein Alter, keine Herkunft</a:t>
            </a:r>
          </a:p>
          <a:p>
            <a:pPr>
              <a:lnSpc>
                <a:spcPct val="112000"/>
              </a:lnSpc>
              <a:spcAft>
                <a:spcPts val="1600"/>
              </a:spcAft>
            </a:pPr>
            <a:r>
              <a:rPr sz="1800" b="1" i="0">
                <a:solidFill>
                  <a:srgbClr val="2E6A57"/>
                </a:solidFill>
                <a:latin typeface="Calibri"/>
              </a:rPr>
              <a:t>•  </a:t>
            </a:r>
            <a:r>
              <a:rPr sz="1800" b="1" i="0">
                <a:solidFill>
                  <a:srgbClr val="2B322E"/>
                </a:solidFill>
                <a:latin typeface="Calibri"/>
              </a:rPr>
              <a:t>K.O.-Kriterien vor der teuren Analyse</a:t>
            </a:r>
            <a:r>
              <a:rPr sz="1600" b="0" i="0">
                <a:solidFill>
                  <a:srgbClr val="5E645E"/>
                </a:solidFill>
                <a:latin typeface="Calibri"/>
              </a:rPr>
              <a:t>   - spart Kosten und macht formale Regeln transparent</a:t>
            </a:r>
          </a:p>
        </p:txBody>
      </p:sp>
      <p:sp>
        <p:nvSpPr>
          <p:cNvPr id="5" name="TextBox 4"/>
          <p:cNvSpPr txBox="1"/>
          <p:nvPr/>
        </p:nvSpPr>
        <p:spPr>
          <a:xfrm>
            <a:off x="822960" y="6400800"/>
            <a:ext cx="10515600" cy="320040"/>
          </a:xfrm>
          <a:prstGeom prst="rect">
            <a:avLst/>
          </a:prstGeom>
          <a:noFill/>
        </p:spPr>
        <p:txBody>
          <a:bodyPr wrap="square" anchor="t" lIns="0" rIns="0" tIns="0" bIns="0">
            <a:spAutoFit/>
          </a:bodyPr>
          <a:lstStyle/>
          <a:p>
            <a:r>
              <a:rPr sz="1000" b="0" i="0">
                <a:solidFill>
                  <a:srgbClr val="8C908A"/>
                </a:solidFill>
                <a:latin typeface="Calibri"/>
              </a:rPr>
              <a:t>TalentLens</a:t>
            </a:r>
            <a:r>
              <a:rPr sz="1000" b="0" i="0">
                <a:solidFill>
                  <a:srgbClr val="8C908A"/>
                </a:solidFill>
                <a:latin typeface="Calibri"/>
              </a:rPr>
              <a:t>     ·     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822960" y="566928"/>
            <a:ext cx="10515600" cy="365760"/>
          </a:xfrm>
          <a:prstGeom prst="rect">
            <a:avLst/>
          </a:prstGeom>
          <a:noFill/>
        </p:spPr>
        <p:txBody>
          <a:bodyPr wrap="square" anchor="t" lIns="0" rIns="0" tIns="0" bIns="0">
            <a:spAutoFit/>
          </a:bodyPr>
          <a:lstStyle/>
          <a:p>
            <a:pPr>
              <a:lnSpc>
                <a:spcPct val="100000"/>
              </a:lnSpc>
            </a:pPr>
            <a:r>
              <a:rPr sz="1250" b="1" i="0" spc="220">
                <a:solidFill>
                  <a:srgbClr val="2E6A57"/>
                </a:solidFill>
                <a:latin typeface="Calibri"/>
              </a:rPr>
              <a:t>WIE MAN ES EINSETZT</a:t>
            </a:r>
          </a:p>
        </p:txBody>
      </p:sp>
      <p:sp>
        <p:nvSpPr>
          <p:cNvPr id="3" name="TextBox 2"/>
          <p:cNvSpPr txBox="1"/>
          <p:nvPr/>
        </p:nvSpPr>
        <p:spPr>
          <a:xfrm>
            <a:off x="822960" y="932688"/>
            <a:ext cx="10515600" cy="1097280"/>
          </a:xfrm>
          <a:prstGeom prst="rect">
            <a:avLst/>
          </a:prstGeom>
          <a:noFill/>
        </p:spPr>
        <p:txBody>
          <a:bodyPr wrap="square" anchor="t" lIns="0" rIns="0" tIns="0" bIns="0">
            <a:spAutoFit/>
          </a:bodyPr>
          <a:lstStyle/>
          <a:p>
            <a:pPr>
              <a:lnSpc>
                <a:spcPct val="102000"/>
              </a:lnSpc>
            </a:pPr>
            <a:r>
              <a:rPr sz="3200" b="0" i="1">
                <a:solidFill>
                  <a:srgbClr val="2B322E"/>
                </a:solidFill>
                <a:latin typeface="Georgia"/>
              </a:rPr>
              <a:t>Entscheidungs-Unterstützung, kein Auto-Pilot</a:t>
            </a:r>
          </a:p>
        </p:txBody>
      </p:sp>
      <p:sp>
        <p:nvSpPr>
          <p:cNvPr id="4" name="TextBox 3"/>
          <p:cNvSpPr txBox="1"/>
          <p:nvPr/>
        </p:nvSpPr>
        <p:spPr>
          <a:xfrm>
            <a:off x="822960" y="2194560"/>
            <a:ext cx="10241280" cy="4023360"/>
          </a:xfrm>
          <a:prstGeom prst="rect">
            <a:avLst/>
          </a:prstGeom>
          <a:noFill/>
        </p:spPr>
        <p:txBody>
          <a:bodyPr wrap="square" anchor="t" lIns="0" rIns="0" tIns="0" bIns="0">
            <a:spAutoFit/>
          </a:bodyPr>
          <a:lstStyle/>
          <a:p>
            <a:pPr>
              <a:lnSpc>
                <a:spcPct val="112000"/>
              </a:lnSpc>
              <a:spcAft>
                <a:spcPts val="1500"/>
              </a:spcAft>
            </a:pPr>
            <a:r>
              <a:rPr sz="1800" b="1" i="0">
                <a:solidFill>
                  <a:srgbClr val="2E6A57"/>
                </a:solidFill>
                <a:latin typeface="Calibri"/>
              </a:rPr>
              <a:t>•  </a:t>
            </a:r>
            <a:r>
              <a:rPr sz="1800" b="0" i="0">
                <a:solidFill>
                  <a:srgbClr val="2B322E"/>
                </a:solidFill>
                <a:latin typeface="Calibri"/>
              </a:rPr>
              <a:t>Als Trichter: vorsortieren → HR prüft die Top-Kandidaten → ein Mensch entscheidet</a:t>
            </a:r>
          </a:p>
          <a:p>
            <a:pPr>
              <a:lnSpc>
                <a:spcPct val="112000"/>
              </a:lnSpc>
              <a:spcAft>
                <a:spcPts val="1500"/>
              </a:spcAft>
            </a:pPr>
            <a:r>
              <a:rPr sz="1800" b="1" i="0">
                <a:solidFill>
                  <a:srgbClr val="2E6A57"/>
                </a:solidFill>
                <a:latin typeface="Calibri"/>
              </a:rPr>
              <a:t>•  </a:t>
            </a:r>
            <a:r>
              <a:rPr sz="1800" b="0" i="0">
                <a:solidFill>
                  <a:srgbClr val="2B322E"/>
                </a:solidFill>
                <a:latin typeface="Calibri"/>
              </a:rPr>
              <a:t>Die Begründung dient als Gesprächsgrundlage, Verlauf und Statistik behalten den Prozess im Blick</a:t>
            </a:r>
          </a:p>
          <a:p>
            <a:pPr>
              <a:lnSpc>
                <a:spcPct val="112000"/>
              </a:lnSpc>
              <a:spcAft>
                <a:spcPts val="1500"/>
              </a:spcAft>
            </a:pPr>
            <a:r>
              <a:rPr sz="1800" b="1" i="0">
                <a:solidFill>
                  <a:srgbClr val="2E6A57"/>
                </a:solidFill>
                <a:latin typeface="Calibri"/>
              </a:rPr>
              <a:t>•  </a:t>
            </a:r>
            <a:r>
              <a:rPr sz="1800" b="0" i="0">
                <a:solidFill>
                  <a:srgbClr val="2B322E"/>
                </a:solidFill>
                <a:latin typeface="Calibri"/>
              </a:rPr>
              <a:t>Tatsächlich deploybar: 1 Repo, 2 Services auf Railway, passwortgeschützt, mit persistentem Speicher</a:t>
            </a:r>
          </a:p>
          <a:p>
            <a:pPr>
              <a:lnSpc>
                <a:spcPct val="112000"/>
              </a:lnSpc>
              <a:spcAft>
                <a:spcPts val="1500"/>
              </a:spcAft>
            </a:pPr>
            <a:r>
              <a:rPr sz="1800" b="1" i="0">
                <a:solidFill>
                  <a:srgbClr val="2E6A57"/>
                </a:solidFill>
                <a:latin typeface="Calibri"/>
              </a:rPr>
              <a:t>•  </a:t>
            </a:r>
            <a:r>
              <a:rPr sz="1800" b="0" i="0">
                <a:solidFill>
                  <a:srgbClr val="2B322E"/>
                </a:solidFill>
                <a:latin typeface="Calibri"/>
              </a:rPr>
              <a:t>Team-Zugriff über eine URL - nicht nur auf einem Laptop</a:t>
            </a:r>
          </a:p>
        </p:txBody>
      </p:sp>
      <p:sp>
        <p:nvSpPr>
          <p:cNvPr id="5" name="TextBox 4"/>
          <p:cNvSpPr txBox="1"/>
          <p:nvPr/>
        </p:nvSpPr>
        <p:spPr>
          <a:xfrm>
            <a:off x="822960" y="6400800"/>
            <a:ext cx="10515600" cy="320040"/>
          </a:xfrm>
          <a:prstGeom prst="rect">
            <a:avLst/>
          </a:prstGeom>
          <a:noFill/>
        </p:spPr>
        <p:txBody>
          <a:bodyPr wrap="square" anchor="t" lIns="0" rIns="0" tIns="0" bIns="0">
            <a:spAutoFit/>
          </a:bodyPr>
          <a:lstStyle/>
          <a:p>
            <a:r>
              <a:rPr sz="1000" b="0" i="0">
                <a:solidFill>
                  <a:srgbClr val="8C908A"/>
                </a:solidFill>
                <a:latin typeface="Calibri"/>
              </a:rPr>
              <a:t>TalentLens</a:t>
            </a:r>
            <a:r>
              <a:rPr sz="1000" b="0" i="0">
                <a:solidFill>
                  <a:srgbClr val="8C908A"/>
                </a:solidFill>
                <a:latin typeface="Calibri"/>
              </a:rPr>
              <a:t>     ·     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822960" y="566928"/>
            <a:ext cx="10515600" cy="365760"/>
          </a:xfrm>
          <a:prstGeom prst="rect">
            <a:avLst/>
          </a:prstGeom>
          <a:noFill/>
        </p:spPr>
        <p:txBody>
          <a:bodyPr wrap="square" anchor="t" lIns="0" rIns="0" tIns="0" bIns="0">
            <a:spAutoFit/>
          </a:bodyPr>
          <a:lstStyle/>
          <a:p>
            <a:pPr>
              <a:lnSpc>
                <a:spcPct val="100000"/>
              </a:lnSpc>
            </a:pPr>
            <a:r>
              <a:rPr sz="1250" b="1" i="0" spc="220">
                <a:solidFill>
                  <a:srgbClr val="2E6A57"/>
                </a:solidFill>
                <a:latin typeface="Calibri"/>
              </a:rPr>
              <a:t>VERANTWORTUNG &amp; GRENZEN</a:t>
            </a:r>
          </a:p>
        </p:txBody>
      </p:sp>
      <p:sp>
        <p:nvSpPr>
          <p:cNvPr id="3" name="TextBox 2"/>
          <p:cNvSpPr txBox="1"/>
          <p:nvPr/>
        </p:nvSpPr>
        <p:spPr>
          <a:xfrm>
            <a:off x="822960" y="932688"/>
            <a:ext cx="10515600" cy="1097280"/>
          </a:xfrm>
          <a:prstGeom prst="rect">
            <a:avLst/>
          </a:prstGeom>
          <a:noFill/>
        </p:spPr>
        <p:txBody>
          <a:bodyPr wrap="square" anchor="t" lIns="0" rIns="0" tIns="0" bIns="0">
            <a:spAutoFit/>
          </a:bodyPr>
          <a:lstStyle/>
          <a:p>
            <a:pPr>
              <a:lnSpc>
                <a:spcPct val="102000"/>
              </a:lnSpc>
            </a:pPr>
            <a:r>
              <a:rPr sz="3200" b="0" i="1">
                <a:solidFill>
                  <a:srgbClr val="2B322E"/>
                </a:solidFill>
                <a:latin typeface="Georgia"/>
              </a:rPr>
              <a:t>Ein Assistenzsystem, keine Entscheidungsmaschine</a:t>
            </a:r>
          </a:p>
        </p:txBody>
      </p:sp>
      <p:sp>
        <p:nvSpPr>
          <p:cNvPr id="4" name="TextBox 3"/>
          <p:cNvSpPr txBox="1"/>
          <p:nvPr/>
        </p:nvSpPr>
        <p:spPr>
          <a:xfrm>
            <a:off x="822960" y="2194560"/>
            <a:ext cx="10241280" cy="4023360"/>
          </a:xfrm>
          <a:prstGeom prst="rect">
            <a:avLst/>
          </a:prstGeom>
          <a:noFill/>
        </p:spPr>
        <p:txBody>
          <a:bodyPr wrap="square" anchor="t" lIns="0" rIns="0" tIns="0" bIns="0">
            <a:spAutoFit/>
          </a:bodyPr>
          <a:lstStyle/>
          <a:p>
            <a:pPr>
              <a:lnSpc>
                <a:spcPct val="112000"/>
              </a:lnSpc>
              <a:spcAft>
                <a:spcPts val="1600"/>
              </a:spcAft>
            </a:pPr>
            <a:r>
              <a:rPr sz="1800" b="1" i="0">
                <a:solidFill>
                  <a:srgbClr val="2E6A57"/>
                </a:solidFill>
                <a:latin typeface="Calibri"/>
              </a:rPr>
              <a:t>•  </a:t>
            </a:r>
            <a:r>
              <a:rPr sz="1800" b="1" i="0">
                <a:solidFill>
                  <a:srgbClr val="2B322E"/>
                </a:solidFill>
                <a:latin typeface="Calibri"/>
              </a:rPr>
              <a:t>EU AI Act</a:t>
            </a:r>
            <a:r>
              <a:rPr sz="1600" b="0" i="0">
                <a:solidFill>
                  <a:srgbClr val="5E645E"/>
                </a:solidFill>
                <a:latin typeface="Calibri"/>
              </a:rPr>
              <a:t>   - Bewerber-Screening gilt als Hochrisiko-System (Anhang III)</a:t>
            </a:r>
          </a:p>
          <a:p>
            <a:pPr>
              <a:lnSpc>
                <a:spcPct val="112000"/>
              </a:lnSpc>
              <a:spcAft>
                <a:spcPts val="1600"/>
              </a:spcAft>
            </a:pPr>
            <a:r>
              <a:rPr sz="1800" b="1" i="0">
                <a:solidFill>
                  <a:srgbClr val="2E6A57"/>
                </a:solidFill>
                <a:latin typeface="Calibri"/>
              </a:rPr>
              <a:t>•  </a:t>
            </a:r>
            <a:r>
              <a:rPr sz="1800" b="1" i="0">
                <a:solidFill>
                  <a:srgbClr val="2B322E"/>
                </a:solidFill>
                <a:latin typeface="Calibri"/>
              </a:rPr>
              <a:t>Datenschutz</a:t>
            </a:r>
            <a:r>
              <a:rPr sz="1600" b="0" i="0">
                <a:solidFill>
                  <a:srgbClr val="5E645E"/>
                </a:solidFill>
                <a:latin typeface="Calibri"/>
              </a:rPr>
              <a:t>   - ausschließlich fiktive Testdaten, nie echte Bewerbungen</a:t>
            </a:r>
          </a:p>
          <a:p>
            <a:pPr>
              <a:lnSpc>
                <a:spcPct val="112000"/>
              </a:lnSpc>
              <a:spcAft>
                <a:spcPts val="1600"/>
              </a:spcAft>
            </a:pPr>
            <a:r>
              <a:rPr sz="1800" b="1" i="0">
                <a:solidFill>
                  <a:srgbClr val="2E6A57"/>
                </a:solidFill>
                <a:latin typeface="Calibri"/>
              </a:rPr>
              <a:t>•  </a:t>
            </a:r>
            <a:r>
              <a:rPr sz="1800" b="1" i="0">
                <a:solidFill>
                  <a:srgbClr val="2B322E"/>
                </a:solidFill>
                <a:latin typeface="Calibri"/>
              </a:rPr>
              <a:t>Kalibrierung</a:t>
            </a:r>
            <a:r>
              <a:rPr sz="1600" b="0" i="0">
                <a:solidFill>
                  <a:srgbClr val="5E645E"/>
                </a:solidFill>
                <a:latin typeface="Calibri"/>
              </a:rPr>
              <a:t>   - Scores sind Schätzungen; kleine Unterschiede nicht signifikant</a:t>
            </a:r>
          </a:p>
          <a:p>
            <a:pPr>
              <a:lnSpc>
                <a:spcPct val="112000"/>
              </a:lnSpc>
              <a:spcAft>
                <a:spcPts val="1600"/>
              </a:spcAft>
            </a:pPr>
            <a:r>
              <a:rPr sz="1800" b="1" i="0">
                <a:solidFill>
                  <a:srgbClr val="2E6A57"/>
                </a:solidFill>
                <a:latin typeface="Calibri"/>
              </a:rPr>
              <a:t>•  </a:t>
            </a:r>
            <a:r>
              <a:rPr sz="1800" b="1" i="0">
                <a:solidFill>
                  <a:srgbClr val="2B322E"/>
                </a:solidFill>
                <a:latin typeface="Calibri"/>
              </a:rPr>
              <a:t>Der Mensch entscheidet</a:t>
            </a:r>
            <a:r>
              <a:rPr sz="1600" b="0" i="0">
                <a:solidFill>
                  <a:srgbClr val="5E645E"/>
                </a:solidFill>
                <a:latin typeface="Calibri"/>
              </a:rPr>
              <a:t>   - das System priorisiert, es urteilt nicht</a:t>
            </a:r>
          </a:p>
        </p:txBody>
      </p:sp>
      <p:sp>
        <p:nvSpPr>
          <p:cNvPr id="5" name="TextBox 4"/>
          <p:cNvSpPr txBox="1"/>
          <p:nvPr/>
        </p:nvSpPr>
        <p:spPr>
          <a:xfrm>
            <a:off x="822960" y="6400800"/>
            <a:ext cx="10515600" cy="320040"/>
          </a:xfrm>
          <a:prstGeom prst="rect">
            <a:avLst/>
          </a:prstGeom>
          <a:noFill/>
        </p:spPr>
        <p:txBody>
          <a:bodyPr wrap="square" anchor="t" lIns="0" rIns="0" tIns="0" bIns="0">
            <a:spAutoFit/>
          </a:bodyPr>
          <a:lstStyle/>
          <a:p>
            <a:r>
              <a:rPr sz="1000" b="0" i="0">
                <a:solidFill>
                  <a:srgbClr val="8C908A"/>
                </a:solidFill>
                <a:latin typeface="Calibri"/>
              </a:rPr>
              <a:t>TalentLens</a:t>
            </a:r>
            <a:r>
              <a:rPr sz="1000" b="0" i="0">
                <a:solidFill>
                  <a:srgbClr val="8C908A"/>
                </a:solidFill>
                <a:latin typeface="Calibri"/>
              </a:rPr>
              <a:t>     ·     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Rectangle 1"/>
          <p:cNvSpPr/>
          <p:nvPr/>
        </p:nvSpPr>
        <p:spPr>
          <a:xfrm>
            <a:off x="868680" y="2331720"/>
            <a:ext cx="2011680" cy="38100"/>
          </a:xfrm>
          <a:prstGeom prst="rect">
            <a:avLst/>
          </a:prstGeom>
          <a:solidFill>
            <a:srgbClr val="2E6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560320"/>
            <a:ext cx="10515600" cy="1828800"/>
          </a:xfrm>
          <a:prstGeom prst="rect">
            <a:avLst/>
          </a:prstGeom>
          <a:noFill/>
        </p:spPr>
        <p:txBody>
          <a:bodyPr wrap="square" anchor="t" lIns="0" rIns="0" tIns="0" bIns="0">
            <a:spAutoFit/>
          </a:bodyPr>
          <a:lstStyle/>
          <a:p>
            <a:r>
              <a:rPr sz="4000" b="0" i="1">
                <a:solidFill>
                  <a:srgbClr val="2B322E"/>
                </a:solidFill>
                <a:latin typeface="Georgia"/>
              </a:rPr>
              <a:t>Und so sieht's in Aktion aus.</a:t>
            </a:r>
          </a:p>
        </p:txBody>
      </p:sp>
      <p:sp>
        <p:nvSpPr>
          <p:cNvPr id="4" name="TextBox 3"/>
          <p:cNvSpPr txBox="1"/>
          <p:nvPr/>
        </p:nvSpPr>
        <p:spPr>
          <a:xfrm>
            <a:off x="868680" y="3703320"/>
            <a:ext cx="10515600" cy="548640"/>
          </a:xfrm>
          <a:prstGeom prst="rect">
            <a:avLst/>
          </a:prstGeom>
          <a:noFill/>
        </p:spPr>
        <p:txBody>
          <a:bodyPr wrap="square" anchor="t" lIns="0" rIns="0" tIns="0" bIns="0">
            <a:spAutoFit/>
          </a:bodyPr>
          <a:lstStyle/>
          <a:p>
            <a:r>
              <a:rPr sz="1700" b="0" i="0">
                <a:solidFill>
                  <a:srgbClr val="5E645E"/>
                </a:solidFill>
                <a:latin typeface="Calibri"/>
              </a:rPr>
              <a:t>Der Rahmen steht - jetzt die Live-Demo und der Blick hinter die Kulissen.</a:t>
            </a:r>
          </a:p>
        </p:txBody>
      </p:sp>
      <p:sp>
        <p:nvSpPr>
          <p:cNvPr id="5" name="TextBox 4"/>
          <p:cNvSpPr txBox="1"/>
          <p:nvPr/>
        </p:nvSpPr>
        <p:spPr>
          <a:xfrm>
            <a:off x="822960" y="6400800"/>
            <a:ext cx="10515600" cy="320040"/>
          </a:xfrm>
          <a:prstGeom prst="rect">
            <a:avLst/>
          </a:prstGeom>
          <a:noFill/>
        </p:spPr>
        <p:txBody>
          <a:bodyPr wrap="square" anchor="t" lIns="0" rIns="0" tIns="0" bIns="0">
            <a:spAutoFit/>
          </a:bodyPr>
          <a:lstStyle/>
          <a:p>
            <a:r>
              <a:rPr sz="1000" b="0" i="0">
                <a:solidFill>
                  <a:srgbClr val="8C908A"/>
                </a:solidFill>
                <a:latin typeface="Calibri"/>
              </a:rPr>
              <a:t>TalentLens</a:t>
            </a:r>
            <a:r>
              <a:rPr sz="1000" b="0" i="0">
                <a:solidFill>
                  <a:srgbClr val="8C908A"/>
                </a:solidFill>
                <a:latin typeface="Calibri"/>
              </a:rPr>
              <a:t>     ·     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